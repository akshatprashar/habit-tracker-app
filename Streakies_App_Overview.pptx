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4572000" cy="4572000"/>
          </a:xfrm>
          <a:prstGeom prst="ellipse">
            <a:avLst/>
          </a:prstGeom>
          <a:solidFill>
            <a:srgbClr val="7B2FBE">
              <a:alpha val="25000"/>
            </a:srgbClr>
          </a:solidFill>
          <a:ln w="12700">
            <a:solidFill>
              <a:srgbClr val="7B2F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ABFBC">
              <a:alpha val="25000"/>
            </a:srgbClr>
          </a:solidFill>
          <a:ln w="12700">
            <a:solidFill>
              <a:srgbClr val="0ABFB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502920"/>
            <a:ext cx="2560320" cy="384048"/>
          </a:xfrm>
          <a:prstGeom prst="roundRect">
            <a:avLst>
              <a:gd name="adj" fmla="val 47619"/>
            </a:avLst>
          </a:prstGeom>
          <a:solidFill>
            <a:srgbClr val="0ABFBC">
              <a:alpha val="80000"/>
            </a:srgbClr>
          </a:solidFill>
          <a:ln w="12700">
            <a:solidFill>
              <a:srgbClr val="0ABFBC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502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✦  PRODUCT 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Streakies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371600" y="2423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ABFBC"/>
                </a:solidFill>
              </a:rPr>
              <a:t>Build Better Habits. Live a Better Life.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0" y="3108960"/>
            <a:ext cx="3657600" cy="0"/>
          </a:xfrm>
          <a:prstGeom prst="line">
            <a:avLst/>
          </a:prstGeom>
          <a:noFill/>
          <a:ln w="25400">
            <a:solidFill>
              <a:srgbClr val="7B2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2461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 complete breakdown of features, user flows,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and development roadmap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4160520"/>
            <a:ext cx="2103120" cy="749808"/>
          </a:xfrm>
          <a:prstGeom prst="rect">
            <a:avLst/>
          </a:prstGeom>
          <a:solidFill>
            <a:srgbClr val="162032"/>
          </a:solidFill>
          <a:ln w="12700">
            <a:solidFill>
              <a:srgbClr val="0ABFBC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4178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BFBC"/>
                </a:solidFill>
              </a:rPr>
              <a:t>10+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4526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Core Features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4160520"/>
            <a:ext cx="2103120" cy="749808"/>
          </a:xfrm>
          <a:prstGeom prst="rect">
            <a:avLst/>
          </a:prstGeom>
          <a:solidFill>
            <a:srgbClr val="162032"/>
          </a:solidFill>
          <a:ln w="12700">
            <a:solidFill>
              <a:srgbClr val="0ABFBC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4178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BFBC"/>
                </a:solidFill>
              </a:rPr>
              <a:t>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840480" y="4526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User Phases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4160520"/>
            <a:ext cx="2103120" cy="749808"/>
          </a:xfrm>
          <a:prstGeom prst="rect">
            <a:avLst/>
          </a:prstGeom>
          <a:solidFill>
            <a:srgbClr val="162032"/>
          </a:solidFill>
          <a:ln w="12700">
            <a:solidFill>
              <a:srgbClr val="0ABFBC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4178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BFBC"/>
                </a:solidFill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09360" y="4526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Integrations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7B2FBE">
              <a:alpha val="18000"/>
            </a:srgbClr>
          </a:solidFill>
          <a:ln w="12700">
            <a:solidFill>
              <a:srgbClr val="7B2FB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BFBC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 People Fail at Building Habits?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572768"/>
            <a:ext cx="4114800" cy="13716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72768"/>
            <a:ext cx="64008" cy="1371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824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Accountability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02996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Without tracking, it's easy to skip days and lose streaks without realising the damage.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572768"/>
            <a:ext cx="4114800" cy="13716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572768"/>
            <a:ext cx="64008" cy="13716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6824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Willpower Fatigue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02996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Relying on motivation alone fails. Habits need systems, reminders, and smart nudges.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145536"/>
            <a:ext cx="4114800" cy="13716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145536"/>
            <a:ext cx="64008" cy="1371600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552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Progress Visibility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60273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Users can't see how far they've come, making it impossible to stay motivated long-term.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145536"/>
            <a:ext cx="4114800" cy="13716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145536"/>
            <a:ext cx="64008" cy="1371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2552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One-Size-Fits-All Apps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360273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Existing apps are too rigid. Users need personalised goals that adapt to their lifestyle.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BFBC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Streakies?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</a:rPr>
              <a:t>Streakies is a smart, personalised habit tracker designed to help users build, maintain, and reflect on daily habits — powered by AI insights, gamification, and a clean minimal UI.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🎯  Goal-based habit creation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260604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🔔  Smart reminders &amp; nudges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13639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📊  Visual progress analytics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313639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🤖  AI-powered suggestions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66674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🏆  Streaks &amp; gamification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366674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👥  Social accountability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280160"/>
            <a:ext cx="320040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0ABFB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0" y="1280160"/>
            <a:ext cx="3200400" cy="54864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ABFBC"/>
                </a:solidFill>
              </a:rPr>
              <a:t>KEY NUMBERS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0" y="2404872"/>
            <a:ext cx="28346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1783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BFBC"/>
                </a:solidFill>
              </a:rPr>
              <a:t>66days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532120" y="21671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avg. time to form a habit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3154680"/>
            <a:ext cx="28346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25328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BFBC"/>
                </a:solidFill>
              </a:rPr>
              <a:t>40%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532120" y="29169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of daily actions are habits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3904488"/>
            <a:ext cx="28346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328269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BFBC"/>
                </a:solidFill>
              </a:rPr>
              <a:t>3×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532120" y="366674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higher success with tracking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4654296"/>
            <a:ext cx="28346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40325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BFBC"/>
                </a:solidFill>
              </a:rPr>
              <a:t>80%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532120" y="44165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users quit apps in week 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ABFBC">
              <a:alpha val="15000"/>
            </a:srgbClr>
          </a:solidFill>
          <a:ln w="12700">
            <a:solidFill>
              <a:srgbClr val="0ABFB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BFBC"/>
                </a:solidFill>
              </a:rPr>
              <a:t>FEATURE BREAKDOWN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Features of Streakies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74320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2743200" cy="54864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4813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BFBC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9768" y="17922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Habit Creation &amp; Templates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2157984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Add custom habits or pick from curated templates (fitness, sleep, mindfulness). Set frequency, reminders, and difficulty level.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74320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371600"/>
            <a:ext cx="274320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4813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2FBE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55848" y="17922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Streak Tracking &amp; Calendar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2157984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Visual calendar heatmap shows completion history. Streaks motivate daily consistency with milestone celebrations.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371600"/>
            <a:ext cx="274320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371600"/>
            <a:ext cx="2743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14813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81928" y="17922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 Reminders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81928" y="2157984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Context-aware push notifications. AI learns when you're most likely to complete a habit and nudges at the right moment.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154680"/>
            <a:ext cx="274320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154680"/>
            <a:ext cx="2743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2644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29768" y="357530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Progress Analytics Dashboard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" y="3941064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Weekly/monthly charts for completion rates, best-performing habits, and trends. Export data as PDF or CSV.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3154680"/>
            <a:ext cx="274320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3154680"/>
            <a:ext cx="2743200" cy="54864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32644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BFBC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55848" y="357530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Habit Coach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55848" y="3941064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Personalised suggestions based on your patterns. Identifies struggling habits and recommends adjustments.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3154680"/>
            <a:ext cx="274320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3154680"/>
            <a:ext cx="274320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81928" y="32644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2FBE"/>
                </a:solidFill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281928" y="357530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Gamification &amp; Rewards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81928" y="3941064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XP points, badges, levels, and weekly challenges. Compete with friends on leaderboards for extra motivation.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BFBC"/>
                </a:solidFill>
              </a:rPr>
              <a:t>USER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User Journey in 5 Phases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783080" y="1600200"/>
            <a:ext cx="38404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ysDash"/>
          </a:ln>
        </p:spPr>
      </p:sp>
      <p:sp>
        <p:nvSpPr>
          <p:cNvPr id="5" name="Shape 3"/>
          <p:cNvSpPr/>
          <p:nvPr/>
        </p:nvSpPr>
        <p:spPr>
          <a:xfrm>
            <a:off x="274320" y="1261872"/>
            <a:ext cx="1463040" cy="3611880"/>
          </a:xfrm>
          <a:prstGeom prst="rect">
            <a:avLst/>
          </a:prstGeom>
          <a:solidFill>
            <a:srgbClr val="162032"/>
          </a:solidFill>
          <a:ln w="12700">
            <a:solidFill>
              <a:srgbClr val="0ABFBC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61872"/>
            <a:ext cx="1463040" cy="54864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25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ABFBC"/>
                </a:solidFill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" y="20482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Onboarding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1097280" cy="0"/>
          </a:xfrm>
          <a:prstGeom prst="line">
            <a:avLst/>
          </a:prstGeom>
          <a:noFill/>
          <a:ln w="12700">
            <a:solidFill>
              <a:srgbClr val="0ABF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146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Sign Up / Social Login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02666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Lifestyle Quiz (3 questions)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53872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Set 1–3 starter habits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40507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Choose reminder times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0440" y="1600200"/>
            <a:ext cx="38404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ysDash"/>
          </a:ln>
        </p:spPr>
      </p:sp>
      <p:sp>
        <p:nvSpPr>
          <p:cNvPr id="16" name="Shape 14"/>
          <p:cNvSpPr/>
          <p:nvPr/>
        </p:nvSpPr>
        <p:spPr>
          <a:xfrm>
            <a:off x="2011680" y="1261872"/>
            <a:ext cx="1463040" cy="3611880"/>
          </a:xfrm>
          <a:prstGeom prst="rect">
            <a:avLst/>
          </a:prstGeom>
          <a:solidFill>
            <a:srgbClr val="162032"/>
          </a:solidFill>
          <a:ln w="12700">
            <a:solidFill>
              <a:srgbClr val="7B2FBE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0" y="1261872"/>
            <a:ext cx="146304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1325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B2FBE"/>
                </a:solidFill>
              </a:rPr>
              <a:t>Phase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0" y="1572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011680" y="20482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Daily Use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94560" y="2423160"/>
            <a:ext cx="1097280" cy="0"/>
          </a:xfrm>
          <a:prstGeom prst="line">
            <a:avLst/>
          </a:prstGeom>
          <a:noFill/>
          <a:ln w="12700">
            <a:solidFill>
              <a:srgbClr val="7B2F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25146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Dashboard overview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03120" y="302666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One-tap habit check-in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03120" y="353872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View streak calendar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03120" y="40507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Receive smart reminders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57800" y="1600200"/>
            <a:ext cx="38404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ysDash"/>
          </a:ln>
        </p:spPr>
      </p:sp>
      <p:sp>
        <p:nvSpPr>
          <p:cNvPr id="27" name="Shape 25"/>
          <p:cNvSpPr/>
          <p:nvPr/>
        </p:nvSpPr>
        <p:spPr>
          <a:xfrm>
            <a:off x="3749040" y="1261872"/>
            <a:ext cx="1463040" cy="3611880"/>
          </a:xfrm>
          <a:prstGeom prst="rect">
            <a:avLst/>
          </a:prstGeom>
          <a:solidFill>
            <a:srgbClr val="162032"/>
          </a:solidFill>
          <a:ln w="12700">
            <a:solidFill>
              <a:srgbClr val="22C55E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49040" y="1261872"/>
            <a:ext cx="14630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1325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2C55E"/>
                </a:solidFill>
              </a:rPr>
              <a:t>Phase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49040" y="1572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3749040" y="20482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Track Growth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931920" y="2423160"/>
            <a:ext cx="109728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25146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Weekly progress report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840480" y="302666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Habit completion charts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840480" y="353872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Identify weak spots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840480" y="40507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Adjust difficulty levels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95160" y="1600200"/>
            <a:ext cx="38404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ysDash"/>
          </a:ln>
        </p:spPr>
      </p:sp>
      <p:sp>
        <p:nvSpPr>
          <p:cNvPr id="38" name="Shape 36"/>
          <p:cNvSpPr/>
          <p:nvPr/>
        </p:nvSpPr>
        <p:spPr>
          <a:xfrm>
            <a:off x="5486400" y="1261872"/>
            <a:ext cx="1463040" cy="3611880"/>
          </a:xfrm>
          <a:prstGeom prst="rect">
            <a:avLst/>
          </a:prstGeom>
          <a:solidFill>
            <a:srgbClr val="162032"/>
          </a:solidFill>
          <a:ln w="12700">
            <a:solidFill>
              <a:srgbClr val="F97316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86400" y="1261872"/>
            <a:ext cx="14630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1325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97316"/>
                </a:solidFill>
              </a:rPr>
              <a:t>Phase 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0" y="1572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5486400" y="20482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Coaching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0" y="2423160"/>
            <a:ext cx="1097280" cy="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77840" y="25146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AI analyses patterns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577840" y="302666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Personalised suggestions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577840" y="353872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Habit swap recommendations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577840" y="40507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Motivational insights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223760" y="1261872"/>
            <a:ext cx="1463040" cy="3611880"/>
          </a:xfrm>
          <a:prstGeom prst="rect">
            <a:avLst/>
          </a:prstGeom>
          <a:solidFill>
            <a:srgbClr val="162032"/>
          </a:solidFill>
          <a:ln w="12700">
            <a:solidFill>
              <a:srgbClr val="0ABFBC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223760" y="1261872"/>
            <a:ext cx="1463040" cy="54864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23760" y="1325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ABFBC"/>
                </a:solidFill>
              </a:rPr>
              <a:t>Phase 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223760" y="1572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7223760" y="20482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Community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406640" y="2423160"/>
            <a:ext cx="1097280" cy="0"/>
          </a:xfrm>
          <a:prstGeom prst="line">
            <a:avLst/>
          </a:prstGeom>
          <a:noFill/>
          <a:ln w="12700">
            <a:solidFill>
              <a:srgbClr val="0ABFB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0" y="25146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Join challenges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315200" y="302666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Friend leaderboard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315200" y="353872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Share achievements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315200" y="40507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Accountability partners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BFBC"/>
                </a:solidFill>
              </a:rPr>
              <a:t>UI / UX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Screens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389888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162032"/>
          </a:solidFill>
          <a:ln w="12700">
            <a:solidFill>
              <a:srgbClr val="0ABFB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4996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29768" y="1956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Home Dashboard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2011680" cy="0"/>
          </a:xfrm>
          <a:prstGeom prst="line">
            <a:avLst/>
          </a:prstGeom>
          <a:noFill/>
          <a:ln w="12700">
            <a:solidFill>
              <a:srgbClr val="0AB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235000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Today's habits, quick check-in, streak score, motivational quote of the day.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389888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162032"/>
          </a:solidFill>
          <a:ln w="12700">
            <a:solidFill>
              <a:srgbClr val="7B2FB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4996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55848" y="1956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Habit Detail 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11880" y="2286000"/>
            <a:ext cx="2011680" cy="0"/>
          </a:xfrm>
          <a:prstGeom prst="line">
            <a:avLst/>
          </a:prstGeom>
          <a:noFill/>
          <a:ln w="12700">
            <a:solidFill>
              <a:srgbClr val="7B2F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235000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Calendar heatmap, completion graph, notes, current streak vs best streak.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1389888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162032"/>
          </a:solidFill>
          <a:ln w="1270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14996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➕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81928" y="1956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Add / Edit Habit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2286000"/>
            <a:ext cx="201168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235000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Title, category, icon, frequency picker, reminder time, difficulty slider.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20040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162032"/>
          </a:solidFill>
          <a:ln w="12700">
            <a:solidFill>
              <a:srgbClr val="F9731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33101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29768" y="3767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Analytics Screen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096512"/>
            <a:ext cx="2011680" cy="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41605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Weekly &amp; monthly charts, habit score card, trend analysis and export options.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320040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162032"/>
          </a:solidFill>
          <a:ln w="12700">
            <a:solidFill>
              <a:srgbClr val="0ABFB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46120" y="33101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355848" y="3767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Coach Screen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11880" y="4096512"/>
            <a:ext cx="2011680" cy="0"/>
          </a:xfrm>
          <a:prstGeom prst="line">
            <a:avLst/>
          </a:prstGeom>
          <a:noFill/>
          <a:ln w="12700">
            <a:solidFill>
              <a:srgbClr val="0ABF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41605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Chat interface with AI coach, weekly insights card, suggested habit swaps.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72200" y="320040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162032"/>
          </a:solidFill>
          <a:ln w="12700">
            <a:solidFill>
              <a:srgbClr val="7B2FB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72200" y="33101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281928" y="3767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Profile &amp; Settings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37960" y="4096512"/>
            <a:ext cx="2011680" cy="0"/>
          </a:xfrm>
          <a:prstGeom prst="line">
            <a:avLst/>
          </a:prstGeom>
          <a:noFill/>
          <a:ln w="12700">
            <a:solidFill>
              <a:srgbClr val="7B2F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81928" y="41605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Avatar, XP level, badges earned, app theme, notification &amp; privacy settings.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4572000" cy="4572000"/>
          </a:xfrm>
          <a:prstGeom prst="ellipse">
            <a:avLst/>
          </a:prstGeom>
          <a:solidFill>
            <a:srgbClr val="7B2FBE">
              <a:alpha val="15000"/>
            </a:srgbClr>
          </a:solidFill>
          <a:ln w="12700">
            <a:solidFill>
              <a:srgbClr val="7B2FB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BFBC"/>
                </a:solidFill>
              </a:rPr>
              <a:t>DEVELOPMENT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Phase-by-Phase Build Plan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2011680" cy="3493008"/>
          </a:xfrm>
          <a:prstGeom prst="rect">
            <a:avLst/>
          </a:prstGeom>
          <a:solidFill>
            <a:srgbClr val="162032"/>
          </a:solidFill>
          <a:ln w="12700">
            <a:solidFill>
              <a:srgbClr val="0ABFB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89888"/>
            <a:ext cx="2011680" cy="502920"/>
          </a:xfrm>
          <a:prstGeom prst="rect">
            <a:avLst/>
          </a:prstGeom>
          <a:solidFill>
            <a:srgbClr val="0ABFBC">
              <a:alpha val="90000"/>
            </a:srgbClr>
          </a:solidFill>
          <a:ln w="12700">
            <a:solidFill>
              <a:srgbClr val="0ABFB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35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 – MVP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BFBC"/>
                </a:solidFill>
              </a:rPr>
              <a:t>Weeks 1–6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" y="2084832"/>
            <a:ext cx="164592" cy="164592"/>
          </a:xfrm>
          <a:prstGeom prst="ellipse">
            <a:avLst/>
          </a:prstGeom>
          <a:solidFill>
            <a:srgbClr val="0ABFBC"/>
          </a:solidFill>
          <a:ln w="12700">
            <a:solidFill>
              <a:srgbClr val="0ABFB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User auth &amp; onboarding flow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633472"/>
            <a:ext cx="164592" cy="164592"/>
          </a:xfrm>
          <a:prstGeom prst="ellipse">
            <a:avLst/>
          </a:prstGeom>
          <a:solidFill>
            <a:srgbClr val="0ABFBC"/>
          </a:solidFill>
          <a:ln w="12700">
            <a:solidFill>
              <a:srgbClr val="0ABFB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560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Basic habit CRUD operations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3182112"/>
            <a:ext cx="164592" cy="164592"/>
          </a:xfrm>
          <a:prstGeom prst="ellipse">
            <a:avLst/>
          </a:prstGeom>
          <a:solidFill>
            <a:srgbClr val="0ABFBC"/>
          </a:solidFill>
          <a:ln w="12700">
            <a:solidFill>
              <a:srgbClr val="0ABFB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108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Simple streak counter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3730752"/>
            <a:ext cx="164592" cy="164592"/>
          </a:xfrm>
          <a:prstGeom prst="ellipse">
            <a:avLst/>
          </a:prstGeom>
          <a:solidFill>
            <a:srgbClr val="0ABFBC"/>
          </a:solidFill>
          <a:ln w="12700">
            <a:solidFill>
              <a:srgbClr val="0ABFB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657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Push notifications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4279392"/>
            <a:ext cx="164592" cy="164592"/>
          </a:xfrm>
          <a:prstGeom prst="ellipse">
            <a:avLst/>
          </a:prstGeom>
          <a:solidFill>
            <a:srgbClr val="0ABFBC"/>
          </a:solidFill>
          <a:ln w="12700">
            <a:solidFill>
              <a:srgbClr val="0ABFB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4206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Home dashboard UI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1389888"/>
            <a:ext cx="2011680" cy="3493008"/>
          </a:xfrm>
          <a:prstGeom prst="rect">
            <a:avLst/>
          </a:prstGeom>
          <a:solidFill>
            <a:srgbClr val="162032"/>
          </a:solidFill>
          <a:ln w="12700">
            <a:solidFill>
              <a:srgbClr val="7B2FB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68880" y="1389888"/>
            <a:ext cx="2011680" cy="502920"/>
          </a:xfrm>
          <a:prstGeom prst="rect">
            <a:avLst/>
          </a:prstGeom>
          <a:solidFill>
            <a:srgbClr val="7B2FBE">
              <a:alpha val="90000"/>
            </a:srgbClr>
          </a:solidFill>
          <a:ln w="12700">
            <a:solidFill>
              <a:srgbClr val="7B2FB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1435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 – Growth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1664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2FBE"/>
                </a:solidFill>
              </a:rPr>
              <a:t>Weeks 7–12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78608" y="2084832"/>
            <a:ext cx="164592" cy="16459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Analytics dashboard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78608" y="2633472"/>
            <a:ext cx="164592" cy="16459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16352" y="2560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Calendar heatmap view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78608" y="3182112"/>
            <a:ext cx="164592" cy="16459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16352" y="3108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Category &amp; tag system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78608" y="3730752"/>
            <a:ext cx="164592" cy="16459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16352" y="3657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Habit templates library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78608" y="4279392"/>
            <a:ext cx="164592" cy="16459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16352" y="4206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Settings &amp; profile screen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1389888"/>
            <a:ext cx="2011680" cy="3493008"/>
          </a:xfrm>
          <a:prstGeom prst="rect">
            <a:avLst/>
          </a:prstGeom>
          <a:solidFill>
            <a:srgbClr val="162032"/>
          </a:solidFill>
          <a:ln w="1270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389888"/>
            <a:ext cx="2011680" cy="502920"/>
          </a:xfrm>
          <a:prstGeom prst="rect">
            <a:avLst/>
          </a:prstGeom>
          <a:solidFill>
            <a:srgbClr val="22C55E">
              <a:alpha val="90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435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 – AI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1664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Weeks 13–18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73168" y="208483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10912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coach integration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73168" y="263347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10912" y="2560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Smart reminder engine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73168" y="318211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10912" y="3108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Pattern analysis ML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73168" y="373075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10912" y="3657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Personalised suggestions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73168" y="427939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10912" y="4206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Weekly AI reports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58000" y="1389888"/>
            <a:ext cx="2011680" cy="3493008"/>
          </a:xfrm>
          <a:prstGeom prst="rect">
            <a:avLst/>
          </a:prstGeom>
          <a:solidFill>
            <a:srgbClr val="162032"/>
          </a:solidFill>
          <a:ln w="12700">
            <a:solidFill>
              <a:srgbClr val="F9731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58000" y="1389888"/>
            <a:ext cx="2011680" cy="502920"/>
          </a:xfrm>
          <a:prstGeom prst="rect">
            <a:avLst/>
          </a:prstGeom>
          <a:solidFill>
            <a:srgbClr val="F97316">
              <a:alpha val="90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9440" y="1435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4 – Social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49440" y="1664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Weeks 19–24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967728" y="2084832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05472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Friend system &amp; invites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67728" y="2633472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05472" y="2560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Community challenges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967728" y="3182112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05472" y="3108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Leaderboard feature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967728" y="3730752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05472" y="3657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Achievement sharing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967728" y="4279392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05472" y="4206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Wearable integrations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BFBC"/>
                </a:solidFill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Monetisation Strategy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46888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94A3B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00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Free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4A3B8"/>
                </a:solidFill>
              </a:rPr>
              <a:t>₹0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/forever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798064"/>
            <a:ext cx="1920240" cy="0"/>
          </a:xfrm>
          <a:prstGeom prst="line">
            <a:avLst/>
          </a:prstGeom>
          <a:noFill/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077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✓  Up to 5 habits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291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✓  7-day streak history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6758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✓  Basic reminders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40599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✓  Standard analytics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44439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✓  Community access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4389120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94A3B8">
              <a:alpha val="8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389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Get Started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1298448"/>
            <a:ext cx="2468880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0ABF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298448"/>
            <a:ext cx="2468880" cy="54864"/>
          </a:xfrm>
          <a:prstGeom prst="rect">
            <a:avLst/>
          </a:prstGeom>
          <a:solidFill>
            <a:srgbClr val="0ABFBC"/>
          </a:solidFill>
          <a:ln w="12700">
            <a:solidFill>
              <a:srgbClr val="0ABFB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417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91840" y="1783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BFBC"/>
                </a:solidFill>
              </a:rPr>
              <a:t>₹199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291840" y="2331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/month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66160" y="2615184"/>
            <a:ext cx="1920240" cy="0"/>
          </a:xfrm>
          <a:prstGeom prst="line">
            <a:avLst/>
          </a:prstGeom>
          <a:noFill/>
          <a:ln w="12700">
            <a:solidFill>
              <a:srgbClr val="0ABFBC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724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✓  Unlimited habits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3108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✓  Full streak history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3493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✓  AI Coach access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3877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✓  Advanced analytics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42611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✓  Priority support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0" y="46451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✓  Custom themes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20440" y="4572000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0ABFBC"/>
          </a:solidFill>
          <a:ln w="12700">
            <a:solidFill>
              <a:srgbClr val="0ABFB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45720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Most Popular ★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1481328"/>
            <a:ext cx="246888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7B2FBE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35040" y="1600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Team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03504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B2FBE"/>
                </a:solidFill>
              </a:rPr>
              <a:t>₹499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035040" y="2514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/month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2798064"/>
            <a:ext cx="1920240" cy="0"/>
          </a:xfrm>
          <a:prstGeom prst="line">
            <a:avLst/>
          </a:prstGeom>
          <a:noFill/>
          <a:ln w="12700">
            <a:solidFill>
              <a:srgbClr val="7B2FBE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9077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✓  Everything in Pro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72200" y="3291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✓  Up to 10 members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72200" y="36758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✓  Team challenges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72200" y="40599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✓  Manager dashboard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72200" y="44439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✓  API access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63640" y="4389120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7B2FBE">
              <a:alpha val="80000"/>
            </a:srgbClr>
          </a:solidFill>
          <a:ln w="12700">
            <a:solidFill>
              <a:srgbClr val="7B2FBE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4389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 Teams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BFBC"/>
                </a:solidFill>
              </a:rPr>
              <a:t>SUCCESS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Measure Success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389888"/>
            <a:ext cx="4114800" cy="1024128"/>
          </a:xfrm>
          <a:prstGeom prst="rect">
            <a:avLst/>
          </a:prstGeom>
          <a:solidFill>
            <a:srgbClr val="162032"/>
          </a:solidFill>
          <a:ln w="12700">
            <a:solidFill>
              <a:srgbClr val="0ABFBC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463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DAU / MAU Ratio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ABFBC"/>
                </a:solidFill>
              </a:rPr>
              <a:t>&gt; 40%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77393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Daily vs monthly active users — our north star engagement metric.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2560320"/>
            <a:ext cx="4114800" cy="1024128"/>
          </a:xfrm>
          <a:prstGeom prst="rect">
            <a:avLst/>
          </a:prstGeom>
          <a:solidFill>
            <a:srgbClr val="162032"/>
          </a:solidFill>
          <a:ln w="12700">
            <a:solidFill>
              <a:srgbClr val="7B2FBE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10328" y="26334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3212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Day-7 Retention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09560" y="2633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B2FBE"/>
                </a:solidFill>
              </a:rPr>
              <a:t>&gt; 45%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29443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% of new users still active after 7 days — indicates habit stickiness.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730752"/>
            <a:ext cx="4114800" cy="1024128"/>
          </a:xfrm>
          <a:prstGeom prst="rect">
            <a:avLst/>
          </a:prstGeom>
          <a:solidFill>
            <a:srgbClr val="162032"/>
          </a:solidFill>
          <a:ln w="12700">
            <a:solidFill>
              <a:srgbClr val="22C55E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" y="380390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38039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Habit Completion 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8039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&gt; 65%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1148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% of scheduled habits actually completed across all users.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1389888"/>
            <a:ext cx="4114800" cy="1024128"/>
          </a:xfrm>
          <a:prstGeom prst="rect">
            <a:avLst/>
          </a:prstGeom>
          <a:solidFill>
            <a:srgbClr val="162032"/>
          </a:solidFill>
          <a:ln w="12700">
            <a:solidFill>
              <a:srgbClr val="F97316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10328" y="1463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3212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Avg. Streak Length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0956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&gt; 14 days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177393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Longer streaks = deeper habit formation and lower churn risk.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560320"/>
            <a:ext cx="4114800" cy="1024128"/>
          </a:xfrm>
          <a:prstGeom prst="rect">
            <a:avLst/>
          </a:prstGeom>
          <a:solidFill>
            <a:srgbClr val="162032"/>
          </a:solidFill>
          <a:ln w="12700">
            <a:solidFill>
              <a:srgbClr val="0ABFBC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" y="26334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9728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 Conversion Rate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74720" y="2633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ABFBC"/>
                </a:solidFill>
              </a:rPr>
              <a:t>&gt; 8%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29443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Free → Pro conversion; key revenue and product-value signal.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730752"/>
            <a:ext cx="4114800" cy="1024128"/>
          </a:xfrm>
          <a:prstGeom prst="rect">
            <a:avLst/>
          </a:prstGeom>
          <a:solidFill>
            <a:srgbClr val="162032"/>
          </a:solidFill>
          <a:ln w="12700">
            <a:solidFill>
              <a:srgbClr val="7B2FBE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10328" y="380390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532120" y="38039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NPS Score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09560" y="38039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B2FBE"/>
                </a:solidFill>
              </a:rPr>
              <a:t>&gt; 50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32120" y="41148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Net Promoter Score measuring user satisfaction and word-of-mouth.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ABFBC">
              <a:alpha val="12000"/>
            </a:srgbClr>
          </a:solidFill>
          <a:ln w="12700">
            <a:solidFill>
              <a:srgbClr val="0ABFB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371600"/>
            <a:ext cx="4572000" cy="4572000"/>
          </a:xfrm>
          <a:prstGeom prst="ellipse">
            <a:avLst/>
          </a:prstGeom>
          <a:solidFill>
            <a:srgbClr val="7B2FBE">
              <a:alpha val="15000"/>
            </a:srgbClr>
          </a:solidFill>
          <a:ln w="12700">
            <a:solidFill>
              <a:srgbClr val="7B2FB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772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ABFBC"/>
                </a:solidFill>
              </a:rPr>
              <a:t>THE VISION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habit is not a choice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make once — it's a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you build daily."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0" y="3218688"/>
            <a:ext cx="2743200" cy="0"/>
          </a:xfrm>
          <a:prstGeom prst="line">
            <a:avLst/>
          </a:prstGeom>
          <a:noFill/>
          <a:ln w="25400">
            <a:solidFill>
              <a:srgbClr val="0ABF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83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Streakies will be the #1 habit-building companion in India by 2026 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helping 1 million users build meaningful, lasting habits.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4343400"/>
            <a:ext cx="2240280" cy="530352"/>
          </a:xfrm>
          <a:prstGeom prst="roundRect">
            <a:avLst>
              <a:gd name="adj" fmla="val 20690"/>
            </a:avLst>
          </a:prstGeom>
          <a:solidFill>
            <a:srgbClr val="0ABFBC"/>
          </a:solidFill>
          <a:ln w="12700">
            <a:solidFill>
              <a:srgbClr val="0ABFB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34340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🚀  Start Building Now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4343400"/>
            <a:ext cx="2240280" cy="530352"/>
          </a:xfrm>
          <a:prstGeom prst="roundRect">
            <a:avLst>
              <a:gd name="adj" fmla="val 20690"/>
            </a:avLst>
          </a:prstGeom>
          <a:solidFill>
            <a:srgbClr val="162032"/>
          </a:solidFill>
          <a:ln w="12700">
            <a:solidFill>
              <a:srgbClr val="0ABFBC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434340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</a:rPr>
              <a:t>📱  Design the UI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4343400"/>
            <a:ext cx="2240280" cy="530352"/>
          </a:xfrm>
          <a:prstGeom prst="roundRect">
            <a:avLst>
              <a:gd name="adj" fmla="val 20690"/>
            </a:avLst>
          </a:prstGeom>
          <a:solidFill>
            <a:srgbClr val="162032"/>
          </a:solidFill>
          <a:ln w="12700">
            <a:solidFill>
              <a:srgbClr val="0ABFBC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434340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</a:rPr>
              <a:t>📊  Validate the MVP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Streakies – Habit Tracker App</dc:title>
  <dc:subject>PptxGenJS Presentation</dc:subject>
  <dc:creator>PptxGenJS</dc:creator>
  <cp:lastModifiedBy>PptxGenJS</cp:lastModifiedBy>
  <cp:revision>1</cp:revision>
  <dcterms:created xsi:type="dcterms:W3CDTF">2026-05-23T14:59:31Z</dcterms:created>
  <dcterms:modified xsi:type="dcterms:W3CDTF">2026-05-23T14:59:31Z</dcterms:modified>
</cp:coreProperties>
</file>